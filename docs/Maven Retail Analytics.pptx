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80" r:id="rId11"/>
    <p:sldId id="279" r:id="rId12"/>
    <p:sldId id="281" r:id="rId13"/>
    <p:sldId id="282" r:id="rId14"/>
    <p:sldId id="283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10"/>
  </p:normalViewPr>
  <p:slideViewPr>
    <p:cSldViewPr snapToGrid="0" snapToObjects="1">
      <p:cViewPr>
        <p:scale>
          <a:sx n="85" d="100"/>
          <a:sy n="85" d="100"/>
        </p:scale>
        <p:origin x="7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050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0BAC7-B445-C39D-3FE1-CB30E998A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A53EFE-7BC7-79CB-5CBF-CE9516D28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02154-81C4-5758-7D8E-9DF08190C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015F0-E1AB-B106-0E35-7FACB33BA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64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215EA-A39C-5749-47CC-456A95CC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A24F5A-BF03-F4C3-7A5E-F2B245697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F208B-E9BE-2A96-DB46-BD21671D6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CE84C-19DA-61D5-6AA6-A4C34E792F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062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AF2A-908C-0277-3834-2D07B95A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3FA4E0-2A2E-7B85-823C-E2A657622A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7BE34-C09F-9312-E81D-9AE53D5D4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E5540-115A-2C37-31D2-CFD22CFDD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99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D11AC-3A22-91DA-763F-A0E8AC93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FE52DC-9521-F84C-45B7-498A5E565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17AB4-4DB2-CD2A-D9B1-FEBAA5740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811D4-D6E1-9E76-3AAD-E4501CC1AA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17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97A9A-D976-D114-18F7-BD9C1890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EF1AB-0607-5FB5-E442-141B1D4CA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47E4D-44F1-ADDB-E04B-6E53852CB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C247E-3D76-13C1-ED77-DF631C6CA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89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1B09-A79B-DB46-5D05-5CBF68A2F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52E7F-B087-20F2-02BF-BA1A79CBA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F1707-291B-0D1D-2E8B-F57D50296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BF747-02F2-ACAB-C848-65902F2E7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50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7A023-5719-DE7A-7095-650712D0F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1DEA2-3AEA-DFD4-F993-6C5294FC3B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2E06F3-500E-58B6-8618-D206A3546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60FDF-4676-1260-66A0-A79AB405A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970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D5F87-A068-81BB-120E-347FC02E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575848-479C-04DE-E1EC-B7965CF4C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564D0-5B03-E873-7820-A2CDA61ED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4C710-939B-3A21-455E-FEE51E1C5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898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8D891-A08B-2499-F843-181D2E136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0320C-BD46-0EC7-682A-EFBAFEDD7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3CF19-B664-D1C4-64ED-D923086A4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28361-DCE0-7F40-C6C5-C9C3A75C1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04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D31E3-1960-E1D2-2EE6-BCEA2068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2A284-DBDC-4CA5-0B89-04489EF93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4035A-B3FB-6FE7-7DEE-87C8465F4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60F4A-EB8A-263E-B631-A68B9AD72E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2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01DB-A388-B3E6-5032-9209DC66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179E0-3243-4A44-46F6-A316ED325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BD2CC-F2E7-ABB3-86EC-A6D8A3CB0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86AE7-7203-48C5-976D-38EDB1F5F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1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DAA63-7E3F-B259-B8D7-B424B6F93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A7AD8-B4F1-383E-4E57-ED091947A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CC920-CEDA-6C2F-5A09-ACCE60753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36798-1680-E4DD-00D0-C9E6D5279E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63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7FD88-28A8-09F8-22D4-762ADBECA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7088E-74FA-6C90-8490-804A715FBC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8D5F9-1D35-62E1-9504-355226DD2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9E6B9-8634-04F9-AC32-F33C3CC2D1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7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Maven Retail Analytics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Analysis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·  Power BI  ·  DAX  ·  Figma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Manal Thabet  —  Route Diploma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F0E85-B726-B46F-DA49-27D53F99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95D7113C-139B-20B0-D94B-2EA7D28EAC42}"/>
              </a:ext>
            </a:extLst>
          </p:cNvPr>
          <p:cNvSpPr/>
          <p:nvPr/>
        </p:nvSpPr>
        <p:spPr>
          <a:xfrm>
            <a:off x="322290" y="11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DC129CF-4897-D6FA-F85B-FA894F1D9AEB}"/>
              </a:ext>
            </a:extLst>
          </p:cNvPr>
          <p:cNvSpPr/>
          <p:nvPr/>
        </p:nvSpPr>
        <p:spPr>
          <a:xfrm>
            <a:off x="322290" y="54234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covers — 8 phases from raw data to business insights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ADF85D8F-ADC7-FB92-959A-351FF347493D}"/>
              </a:ext>
            </a:extLst>
          </p:cNvPr>
          <p:cNvSpPr/>
          <p:nvPr/>
        </p:nvSpPr>
        <p:spPr>
          <a:xfrm>
            <a:off x="322290" y="81666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7A8C1408-72C1-382E-F383-F6E387CB1517}"/>
              </a:ext>
            </a:extLst>
          </p:cNvPr>
          <p:cNvSpPr/>
          <p:nvPr/>
        </p:nvSpPr>
        <p:spPr>
          <a:xfrm>
            <a:off x="322290" y="1049674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an end-to-end data analysis for a retail company operating stores across the USA, Mexico, and Canada. The goal was to build a single trusted data model, answer 12 business questions through SQL, and deliver an interactive Power BI dashboard with clear KPIs and actionable recommendations.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44EB9C6-71D2-7138-AA3A-E818D3105A49}"/>
              </a:ext>
            </a:extLst>
          </p:cNvPr>
          <p:cNvSpPr/>
          <p:nvPr/>
        </p:nvSpPr>
        <p:spPr>
          <a:xfrm>
            <a:off x="459450" y="2481041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269K+ transactions  ·  2 years (1997–1998)  ·  3 countries</a:t>
            </a:r>
            <a:endParaRPr lang="en-US" sz="1100" dirty="0">
              <a:solidFill>
                <a:schemeClr val="bg2"/>
              </a:solidFill>
            </a:endParaRPr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E158429E-AC98-6E72-F442-71FCE35D2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145070"/>
              </p:ext>
            </p:extLst>
          </p:nvPr>
        </p:nvGraphicFramePr>
        <p:xfrm>
          <a:off x="4664191" y="880841"/>
          <a:ext cx="4206240" cy="3456432"/>
        </p:xfrm>
        <a:graphic>
          <a:graphicData uri="http://schemas.openxmlformats.org/drawingml/2006/table">
            <a:tbl>
              <a:tblPr/>
              <a:tblGrid>
                <a:gridCol w="519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Understanding &amp; Planning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/ CSV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Database Design &amp; Loading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Analysis &amp; Business Queries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Views &amp; Data Preparation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Data Modeling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Measures &amp; KPIs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Design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Figma + Power BI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Insights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353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EE220A-DF76-B651-8D57-C1CFC9E0C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240" y="11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&amp; 2 — Data Planning &amp; SQL Database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97240" y="54234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data, designing the Star Schema, and building the database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97240" y="81666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7240" y="84395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Understanding &amp; Planning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2" name="Text 4"/>
          <p:cNvSpPr/>
          <p:nvPr/>
        </p:nvSpPr>
        <p:spPr>
          <a:xfrm>
            <a:off x="397240" y="1233993"/>
            <a:ext cx="4114800" cy="1265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step was reviewing all CSV files to understand what data was available. I identified the fact tables (Sales and Returns) and the dimension tables (Products, Customers, Stores, Region, Calendar). I then formulated 12 business questions that management needed answers to and planned a Star Schema data model.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3" name="Text 5"/>
          <p:cNvSpPr/>
          <p:nvPr/>
        </p:nvSpPr>
        <p:spPr>
          <a:xfrm>
            <a:off x="397240" y="28446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Database Design &amp; Loading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4" name="Text 6"/>
          <p:cNvSpPr/>
          <p:nvPr/>
        </p:nvSpPr>
        <p:spPr>
          <a:xfrm>
            <a:off x="397240" y="3264485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the database RETAIL_Graduation_Project in SQL Server and built 6 tables with proper data types, Primary Keys, and Foreign Keys. Data from two years of CSV files (Sales 1997 and Sales 1998) was loaded and merged. A Calendar table was created using a WHILE loop covering 1990 to 2025.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5" name="Text 7"/>
          <p:cNvSpPr/>
          <p:nvPr/>
        </p:nvSpPr>
        <p:spPr>
          <a:xfrm>
            <a:off x="4786360" y="926395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Created</a:t>
            </a:r>
            <a:endParaRPr lang="en-US" sz="1400" dirty="0">
              <a:solidFill>
                <a:schemeClr val="bg2"/>
              </a:solidFill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399024"/>
              </p:ext>
            </p:extLst>
          </p:nvPr>
        </p:nvGraphicFramePr>
        <p:xfrm>
          <a:off x="4786360" y="1219003"/>
          <a:ext cx="4069080" cy="305104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region_id (PK)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 (PK)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(PK)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store_id (PK), region_id (FK)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(PK)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product_id, customer_id, store_id (FKs)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product_id, store_id (FKs)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3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7B05D-56DC-6E4D-5BBD-299F606EA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419725" y="45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SQL Analysis &amp; Business Queries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7" name="Text 1"/>
          <p:cNvSpPr/>
          <p:nvPr/>
        </p:nvSpPr>
        <p:spPr>
          <a:xfrm>
            <a:off x="419725" y="48238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12 business questions using JOINs, aggregations, and CTEs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8" name="Shape 2"/>
          <p:cNvSpPr/>
          <p:nvPr/>
        </p:nvSpPr>
        <p:spPr>
          <a:xfrm>
            <a:off x="419725" y="77169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Text 3"/>
          <p:cNvSpPr/>
          <p:nvPr/>
        </p:nvSpPr>
        <p:spPr>
          <a:xfrm>
            <a:off x="419725" y="798494"/>
            <a:ext cx="8229600" cy="589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SQL Server, I answered all 12 business questions defined in Phase 1. The queries used techniques including multi-table JOINs, GROUP BY aggregations, TOP N filtering, and a Common Table Expression (CTE) for the Year-over-Year growth calculation.</a:t>
            </a:r>
            <a:endParaRPr lang="en-US" sz="1200" dirty="0">
              <a:solidFill>
                <a:schemeClr val="bg2"/>
              </a:solidFill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840941"/>
              </p:ext>
            </p:extLst>
          </p:nvPr>
        </p:nvGraphicFramePr>
        <p:xfrm>
          <a:off x="419725" y="1424819"/>
          <a:ext cx="8229600" cy="33680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Technique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transactions &amp; quantity sold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COUNT(*), SUM()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5 best-selling products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JOIN, GROUP BY, TOP 5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by country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Stores, GROUP BY country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region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Region, GROUP BY region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 1997 vs 1998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YEAR(), MONTH(), GROUP BY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Q6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Year-over-Year growth %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CTE + SELF JOIN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Q7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return rate %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CTEs + Aggregation (Returns Qty / Sales Qty)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 with highest return rate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Returns, GROUP BY product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by customer occupation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Customers, GROUP BY occupation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customers by revenue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Customers, TOP 10, ORDER BY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Q11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SUM(qty * price) / COUNT(*)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Q12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region underperforms?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 region, ORDER BY revenue ASC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26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8E81F-ECE0-1397-5147-CD8A3F88D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2290" y="45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&amp; 5 — SQL Views &amp; Power BI Data Model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22290" y="5348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analysis-ready data and building the semantic model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2290" y="809172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2290" y="9189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SQL View Created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1" name="Text 4"/>
          <p:cNvSpPr/>
          <p:nvPr/>
        </p:nvSpPr>
        <p:spPr>
          <a:xfrm>
            <a:off x="322290" y="1271468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the data easy to use in Power BI, I created a SQL View called View_Final_Analysis. This view joins Sales, Products, Stores, Region, and Customers into one clean, analysis-ready table that Power BI can connect to directly without complex transformations.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2" name="Text 5"/>
          <p:cNvSpPr/>
          <p:nvPr/>
        </p:nvSpPr>
        <p:spPr>
          <a:xfrm>
            <a:off x="322290" y="247367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View_Final_Analysis columns:</a:t>
            </a:r>
            <a:endParaRPr lang="en-US" sz="1100" dirty="0">
              <a:solidFill>
                <a:schemeClr val="bg2"/>
              </a:solidFill>
            </a:endParaRPr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68790"/>
              </p:ext>
            </p:extLst>
          </p:nvPr>
        </p:nvGraphicFramePr>
        <p:xfrm>
          <a:off x="322290" y="2729710"/>
          <a:ext cx="4114800" cy="2072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Table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transaction_date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product_name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product_retail_price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store_name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sales_region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customer_city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6"/>
          <p:cNvSpPr/>
          <p:nvPr/>
        </p:nvSpPr>
        <p:spPr>
          <a:xfrm>
            <a:off x="4711410" y="9189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Power BI Data Model</a:t>
            </a: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15" name="Text 7"/>
          <p:cNvSpPr/>
          <p:nvPr/>
        </p:nvSpPr>
        <p:spPr>
          <a:xfrm>
            <a:off x="4711410" y="1211508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was connected to SQL Server and all fact and dimension tables were loaded. Relationships were set between tables to build a clean Star Schema semantic model. This model powers all visuals and DAX calculations across the dashboard.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6" name="Text 8"/>
          <p:cNvSpPr/>
          <p:nvPr/>
        </p:nvSpPr>
        <p:spPr>
          <a:xfrm>
            <a:off x="4711410" y="242795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built:</a:t>
            </a:r>
            <a:endParaRPr lang="en-US" sz="1100" dirty="0">
              <a:solidFill>
                <a:schemeClr val="bg2"/>
              </a:solidFill>
            </a:endParaRPr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002732"/>
              </p:ext>
            </p:extLst>
          </p:nvPr>
        </p:nvGraphicFramePr>
        <p:xfrm>
          <a:off x="4711410" y="2693134"/>
          <a:ext cx="4069080" cy="20726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(Fact)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(Dimension)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store_id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transaction_date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region_id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product_id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store_id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535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0C8E2-B89C-3F20-8248-65B6DF6F2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6FB151-9F68-5C40-2396-E8E94DB9FE03}"/>
              </a:ext>
            </a:extLst>
          </p:cNvPr>
          <p:cNvSpPr/>
          <p:nvPr/>
        </p:nvSpPr>
        <p:spPr>
          <a:xfrm>
            <a:off x="322290" y="-2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&amp; 5 — SQL Views &amp; Power BI Data Model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E451AE2-ADA2-3F85-0954-1316D32E59D4}"/>
              </a:ext>
            </a:extLst>
          </p:cNvPr>
          <p:cNvSpPr/>
          <p:nvPr/>
        </p:nvSpPr>
        <p:spPr>
          <a:xfrm>
            <a:off x="322290" y="52735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Data Model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0829BB9-F106-4690-43BC-0DC8B01A4E17}"/>
              </a:ext>
            </a:extLst>
          </p:cNvPr>
          <p:cNvSpPr/>
          <p:nvPr/>
        </p:nvSpPr>
        <p:spPr>
          <a:xfrm>
            <a:off x="322290" y="80167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A4B918-3C75-A79E-4CB7-665C1B000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57" y="846647"/>
            <a:ext cx="7519066" cy="424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51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83847-D93C-E3D2-8744-5A4C04638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220" y="-2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DAX Measures &amp; KPIs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27220" y="52735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business metrics built using DAX in Power BI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27220" y="80167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27220" y="911405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DAX measures were created to power the KPI cards and calculations across the dashboard. Each measure was written to be reusable — other calculations reference them using the [Measure Name] syntax.</a:t>
            </a:r>
            <a:endParaRPr lang="en-US" sz="1200" dirty="0">
              <a:solidFill>
                <a:schemeClr val="bg2"/>
              </a:solidFill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164474"/>
              </p:ext>
            </p:extLst>
          </p:nvPr>
        </p:nvGraphicFramePr>
        <p:xfrm>
          <a:off x="427220" y="1596455"/>
          <a:ext cx="8229600" cy="3179064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Name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Formula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Total Revenue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SUMX(Sales, Sales[quantity] * RELATED(Products[product_retail_price]))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$1.76M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Total Transactions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COUNTROWS(Sales)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Sales], [Total Orders], 0)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$1,765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Returns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SUM(Returns[quantity])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7,087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 %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Returns], [Total Orders], 0)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Year-over-Year Growth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Sales] - [Sales LY], [Sales LY], BLANK())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+112.2%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Month-over-Month Growth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Sales] - [Sales PM], [Sales PM], BLANK())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</a:t>
                      </a:r>
                      <a:endParaRPr lang="en-US" sz="1100" dirty="0">
                        <a:solidFill>
                          <a:schemeClr val="bg2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72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364B27-5971-65F7-48B9-D1FD4F0B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</a:t>
            </a: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cs typeface="Calibri" pitchFamily="34" charset="-120"/>
              </a:rPr>
              <a:t>Figma Dashboard Professional Frame Design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54234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Using Figma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1666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9845C5-2241-4A1A-A531-9A6D98815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845286"/>
            <a:ext cx="3962400" cy="23729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BDAEAC-C3CF-8BE5-EAEC-9AA78B143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" y="3317573"/>
            <a:ext cx="2960915" cy="17833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1A44C0-E6B3-6499-0132-E6459B319A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6348" y="3292038"/>
            <a:ext cx="3024986" cy="18208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AF0E142-D66B-D8A6-95B8-1984089AA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7807" y="3257170"/>
            <a:ext cx="3084399" cy="18571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9E1A30-E723-F9BD-D748-610B209729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6415" y="851311"/>
            <a:ext cx="3890386" cy="2366279"/>
          </a:xfrm>
          <a:prstGeom prst="rect">
            <a:avLst/>
          </a:prstGeom>
        </p:spPr>
      </p:pic>
      <p:sp>
        <p:nvSpPr>
          <p:cNvPr id="19" name="Shape 2">
            <a:extLst>
              <a:ext uri="{FF2B5EF4-FFF2-40B4-BE49-F238E27FC236}">
                <a16:creationId xmlns:a16="http://schemas.microsoft.com/office/drawing/2014/main" id="{4B21B010-C067-C44C-E71A-A64FF5DD4B3E}"/>
              </a:ext>
            </a:extLst>
          </p:cNvPr>
          <p:cNvSpPr/>
          <p:nvPr/>
        </p:nvSpPr>
        <p:spPr>
          <a:xfrm>
            <a:off x="609600" y="3217591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76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38E25-C333-88D7-67EC-F9B65FD2B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B4336657-D406-6ABE-77C3-FA340ABAB34D}"/>
              </a:ext>
            </a:extLst>
          </p:cNvPr>
          <p:cNvSpPr/>
          <p:nvPr/>
        </p:nvSpPr>
        <p:spPr>
          <a:xfrm>
            <a:off x="382250" y="11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 — Dashboard: Home Page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6CE8D9E-7975-D516-28F9-61AE8924742F}"/>
              </a:ext>
            </a:extLst>
          </p:cNvPr>
          <p:cNvSpPr/>
          <p:nvPr/>
        </p:nvSpPr>
        <p:spPr>
          <a:xfrm>
            <a:off x="382250" y="54234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 with live KPI cards and monthly revenue trend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F842990-555C-78B2-60F1-34692DDDEFB0}"/>
              </a:ext>
            </a:extLst>
          </p:cNvPr>
          <p:cNvSpPr/>
          <p:nvPr/>
        </p:nvSpPr>
        <p:spPr>
          <a:xfrm>
            <a:off x="382250" y="81666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29A7F2B-3063-CC85-7854-1E53696AD7A7}"/>
              </a:ext>
            </a:extLst>
          </p:cNvPr>
          <p:cNvSpPr/>
          <p:nvPr/>
        </p:nvSpPr>
        <p:spPr>
          <a:xfrm>
            <a:off x="382250" y="908107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page serves as the navigation hub. It displays four KPI summary cards at the top right showing Total Revenue ($1.76M), Total Transactions (270K), Customers (8,842), and Return Rate (1.0%). A monthly revenue line chart compares 1997 vs 1998 performance, and a year filter allows users to drill into a specific year. Navigation buttons at the top link to Executive, Sales, and Customers pages.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D135179E-2373-5147-3713-05F5190FA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50" y="2006106"/>
            <a:ext cx="8524344" cy="289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893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380DA-6806-48EF-5098-48C85CF9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60" y="11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Executive Overview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67260" y="54234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totals, year-over-year growth, top brands, and returns analysis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67260" y="81666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7260" y="908107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page shows the full financial picture. The top KPI bar displays Total Revenue 1997–1998 ($1.76M), Revenue 1997 ($565K) vs Revenue 1998 ($1.20M), Total Transactions (270K), and Return Transactions (7,087 at 1.0%). A monthly revenue line chart overlays both years. The top 5 brands by revenue are shown as a bar chart (Hermanos leads at $56,659). The bottom section compares Revenue by Year and Transactions per Year side by side, and a Returns vs Transactions visual confirms the low 1% return rate.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60" y="2274885"/>
            <a:ext cx="8438568" cy="260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48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1EF50B-CD86-2FA1-71F1-0F6AF8FEA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715" y="-2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Sales &amp; Product Analysis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34715" y="52735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by country, peak month, top brand, and top products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34715" y="80167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34715" y="893117"/>
            <a:ext cx="8229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page breaks down performance by product and geography. The top KPI cards highlight: Total Revenue ($1.765M, +112.2% YoY), Peak Month (December 1998 at $120,161), and Top Brand (Hermanos at $56.66K). Three country cards show revenue share — USA 66.8% ($1.18M), Mexico 27.1% ($479K), Canada 6.1% ($108K). The bottom left shows the full-year 1998 monthly revenue trend (an area chart with strong Q4 growth), and the bottom right lists the Top 5 products by revenue — all within a narrow $2,378–$2,490 range.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15" y="2304737"/>
            <a:ext cx="8633394" cy="2513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07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9ED3B3-9C3C-C20E-CA9D-916C33D1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725" y="11995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Customers &amp; Regional Insights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9725" y="54234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region, customer segments, returns analysis, and business insights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9725" y="816667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9725" y="908107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Customers page combines regional performance, customer demographics, and the Phase 8 business insights. KPI cards show: Top Region (North West, $847,827 — 48.0%), Top Segment (Professional, $574K — 32.5%), Returns (7,087 at only 1%), and Unique Customers (8,842 across 3 countries). Visuals include: Revenue by Region bar chart, Customers by Country donut (USA 71.9%, Canada 15.6%, Mexico 12.5%), Revenue &amp; Avg Spend by Age Group, and a Returns Analysis section showing 1997 vs 1998 return volumes. The Business Insights panel at the bottom summarizes the 4 key findings directly on the dashboard.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65" y="2400408"/>
            <a:ext cx="8521908" cy="250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62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EFEDC-01DF-C152-5711-D71AEF37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725" y="45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8 — Business Insights &amp; Recommendations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19725" y="5348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data-backed findings answering the questions from the project brief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9725" y="809172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19725" y="9006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phase translates dashboard numbers into decisions. Each insight is backed by specific data from the dashboard.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9725" y="1582662"/>
            <a:ext cx="4160520" cy="16276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56885" y="167410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What drives sales growth?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56885" y="196671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doubled from $565K (1997) to $1.20M (1998) — a +112.2% YoY increase. The strongest growth occurred in Q4, with November and December 1998 combined reaching $233K. This points to strong seasonal demand patterns.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56885" y="275309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Capitalize on Q4 demand with targeted promotions and increased inventory in October–December.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81413" y="1582662"/>
            <a:ext cx="4160520" cy="16276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918573" y="167410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Which products or regions underperform?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18573" y="196671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West region generates 48% of all revenue ($847,827), while Canada West ($108K) and Mexico South ($87K) significantly lag behind. No single product drastically underperforms — the top 5 products are tightly clustered between $2,378 and $2,490.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18573" y="275309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Expand store presence and marketing in the North West. Review pricing strategy in Canada West and Mexico South.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9725" y="3301734"/>
            <a:ext cx="4160520" cy="16276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56885" y="339317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What is the impact of returns?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56885" y="368578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8,289 units were returned out of 833,489 sold — a return rate of just 1.0%, well below the 5% industry benchmark. Returns grew proportionally from 2,638 (1997) to 5,651 (1998), tracking with the overall sales increase.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6885" y="447216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Maintain current supplier quality standards to preserve this strong product-market fit.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81413" y="3301734"/>
            <a:ext cx="4160520" cy="162763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18573" y="339317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Where should management focus next quarter?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18573" y="368578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Professional occupation segment contributes 32.5% of revenue ($574K), making it the highest-value customer group. The Under-40 age group has the highest average spend per customer. North West region offers the highest return on investment for expansion.</a:t>
            </a:r>
            <a:endParaRPr lang="en-US" sz="1000" dirty="0">
              <a:solidFill>
                <a:schemeClr val="accent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18573" y="447216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Launch B2B loyalty programs targeting Professionals. Focus Q4 campaigns on under-40 customers in North West.</a:t>
            </a:r>
            <a:endParaRPr lang="en-US" sz="1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794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417622-A81D-4DC2-0AC8-9A28BFDC6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240" y="45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— Dashboard View</a:t>
            </a:r>
            <a:endParaRPr lang="en-US" sz="2600" dirty="0">
              <a:solidFill>
                <a:schemeClr val="bg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97240" y="5348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Insights &amp; Recommendations page from Power BI</a:t>
            </a:r>
            <a:endParaRPr lang="en-US" sz="1300" dirty="0">
              <a:solidFill>
                <a:schemeClr val="bg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97240" y="809172"/>
            <a:ext cx="8229600" cy="1645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97240" y="9006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dedicated page in the Power BI dashboard presents all four insights visually, each in a colored card with the finding and the recommendation clearly stated for management.</a:t>
            </a:r>
            <a:endParaRPr lang="en-US" sz="1200" dirty="0">
              <a:solidFill>
                <a:schemeClr val="bg2"/>
              </a:solidFill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40" y="1513260"/>
            <a:ext cx="8229600" cy="31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93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362102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RETAIL_Graduation_Project — 6 tables, PKs &amp; FKs, 2 years of data merged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business questions answered using JOINs, GROUP BY, CTEs, TOP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View_Final_Analysis — 5 tables joined, analysis-ready for Power 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measures: Total Sales, Orders, AOV, Returns, Rate%, YoY, MoM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pages: Home, Executive, Sales &amp; Products, Customers &amp; Regions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$1.76M across 1997–1998 — +112.2% Year-over-Year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270K transactions — +110.6% vs 1997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8,842 unique customers across USA, Mexico, and Canada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 — well below the 5% industry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West — 48% of total revenue ($847,827)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occupation — 32.5% of revenue ($574K)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8463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Manal Thabet  ·  Route Diploma — Data Analysis Track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2054</Words>
  <Application>Microsoft Office PowerPoint</Application>
  <PresentationFormat>On-screen Show (16:9)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Manal Thabet</cp:lastModifiedBy>
  <cp:revision>28</cp:revision>
  <dcterms:created xsi:type="dcterms:W3CDTF">2026-05-22T21:51:04Z</dcterms:created>
  <dcterms:modified xsi:type="dcterms:W3CDTF">2026-05-24T15:30:46Z</dcterms:modified>
</cp:coreProperties>
</file>